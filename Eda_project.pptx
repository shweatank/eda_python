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314" r:id="rId3"/>
    <p:sldId id="282" r:id="rId4"/>
    <p:sldId id="283" r:id="rId5"/>
    <p:sldId id="327" r:id="rId6"/>
    <p:sldId id="284" r:id="rId7"/>
    <p:sldId id="281" r:id="rId8"/>
    <p:sldId id="260" r:id="rId9"/>
    <p:sldId id="328" r:id="rId10"/>
    <p:sldId id="329" r:id="rId11"/>
    <p:sldId id="330" r:id="rId12"/>
    <p:sldId id="332" r:id="rId13"/>
    <p:sldId id="333" r:id="rId14"/>
    <p:sldId id="334" r:id="rId15"/>
    <p:sldId id="259" r:id="rId16"/>
    <p:sldId id="25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7F7F7"/>
    <a:srgbClr val="00BE9C"/>
    <a:srgbClr val="14D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>
        <p:scale>
          <a:sx n="50" d="100"/>
          <a:sy n="50" d="100"/>
        </p:scale>
        <p:origin x="13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D8800-4BFF-4416-9148-C9E6947F365D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609EA-4ED7-458E-841A-D6436E2276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609EA-4ED7-458E-841A-D6436E2276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AA39BF-A0C1-4329-B52D-A0BC4CCA760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9pPr>
          </a:lstStyle>
          <a:p>
            <a:fld id="{CD82B6E9-0666-4E7E-B502-612ED3F2704A}" type="slidenum">
              <a:rPr lang="zh-CN" altLang="en-US" smtClean="0">
                <a:latin typeface="Calibri" panose="020F0502020204030204" pitchFamily="34" charset="0"/>
              </a:rPr>
              <a:t>7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9pPr>
          </a:lstStyle>
          <a:p>
            <a:fld id="{CD82B6E9-0666-4E7E-B502-612ED3F2704A}" type="slidenum">
              <a:rPr lang="zh-CN" altLang="en-US" smtClean="0">
                <a:latin typeface="Calibri" panose="020F0502020204030204" pitchFamily="34" charset="0"/>
              </a:rPr>
              <a:t>8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9pPr>
          </a:lstStyle>
          <a:p>
            <a:fld id="{CD82B6E9-0666-4E7E-B502-612ED3F2704A}" type="slidenum">
              <a:rPr lang="zh-CN" altLang="en-US" smtClean="0">
                <a:latin typeface="Calibri" panose="020F0502020204030204" pitchFamily="34" charset="0"/>
              </a:rPr>
              <a:t>15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SimSun" panose="02010600030101010101" pitchFamily="2" charset="-122"/>
              </a:defRPr>
            </a:lvl9pPr>
          </a:lstStyle>
          <a:p>
            <a:fld id="{CD82B6E9-0666-4E7E-B502-612ED3F2704A}" type="slidenum">
              <a:rPr lang="zh-CN" altLang="en-US" smtClean="0">
                <a:latin typeface="Calibri" panose="020F0502020204030204" pitchFamily="34" charset="0"/>
              </a:rPr>
              <a:t>16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13" name="直角三角形 12"/>
          <p:cNvSpPr/>
          <p:nvPr userDrawn="1"/>
        </p:nvSpPr>
        <p:spPr>
          <a:xfrm flipH="1">
            <a:off x="7436722" y="4048474"/>
            <a:ext cx="4755276" cy="2809526"/>
          </a:xfrm>
          <a:prstGeom prst="rtTriangle">
            <a:avLst/>
          </a:prstGeom>
          <a:solidFill>
            <a:srgbClr val="00B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14" name="直角三角形 13"/>
          <p:cNvSpPr/>
          <p:nvPr userDrawn="1"/>
        </p:nvSpPr>
        <p:spPr>
          <a:xfrm>
            <a:off x="-1" y="4048473"/>
            <a:ext cx="12152372" cy="2809527"/>
          </a:xfrm>
          <a:prstGeom prst="rtTriangle">
            <a:avLst/>
          </a:prstGeom>
          <a:solidFill>
            <a:srgbClr val="545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15" name="直角三角形 14"/>
          <p:cNvSpPr/>
          <p:nvPr userDrawn="1"/>
        </p:nvSpPr>
        <p:spPr>
          <a:xfrm flipH="1">
            <a:off x="10857880" y="3991413"/>
            <a:ext cx="1334120" cy="2866587"/>
          </a:xfrm>
          <a:prstGeom prst="rtTriangle">
            <a:avLst/>
          </a:prstGeom>
          <a:solidFill>
            <a:srgbClr val="00B4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16" name="直角三角形 10"/>
          <p:cNvSpPr/>
          <p:nvPr userDrawn="1"/>
        </p:nvSpPr>
        <p:spPr>
          <a:xfrm>
            <a:off x="-39630" y="4017850"/>
            <a:ext cx="12086328" cy="2840149"/>
          </a:xfrm>
          <a:custGeom>
            <a:avLst/>
            <a:gdLst>
              <a:gd name="connsiteX0" fmla="*/ 0 w 8375374"/>
              <a:gd name="connsiteY0" fmla="*/ 1663148 h 1663148"/>
              <a:gd name="connsiteX1" fmla="*/ 0 w 8375374"/>
              <a:gd name="connsiteY1" fmla="*/ 0 h 1663148"/>
              <a:gd name="connsiteX2" fmla="*/ 8375374 w 8375374"/>
              <a:gd name="connsiteY2" fmla="*/ 1663148 h 1663148"/>
              <a:gd name="connsiteX3" fmla="*/ 0 w 8375374"/>
              <a:gd name="connsiteY3" fmla="*/ 1663148 h 1663148"/>
              <a:gd name="connsiteX0-1" fmla="*/ 3750365 w 12125739"/>
              <a:gd name="connsiteY0-2" fmla="*/ 2458279 h 2458279"/>
              <a:gd name="connsiteX1-3" fmla="*/ 0 w 12125739"/>
              <a:gd name="connsiteY1-4" fmla="*/ 0 h 2458279"/>
              <a:gd name="connsiteX2-5" fmla="*/ 12125739 w 12125739"/>
              <a:gd name="connsiteY2-6" fmla="*/ 2458279 h 2458279"/>
              <a:gd name="connsiteX3-7" fmla="*/ 3750365 w 12125739"/>
              <a:gd name="connsiteY3-8" fmla="*/ 2458279 h 2458279"/>
              <a:gd name="connsiteX0-9" fmla="*/ 5406887 w 12125739"/>
              <a:gd name="connsiteY0-10" fmla="*/ 2445026 h 2458279"/>
              <a:gd name="connsiteX1-11" fmla="*/ 0 w 12125739"/>
              <a:gd name="connsiteY1-12" fmla="*/ 0 h 2458279"/>
              <a:gd name="connsiteX2-13" fmla="*/ 12125739 w 12125739"/>
              <a:gd name="connsiteY2-14" fmla="*/ 2458279 h 2458279"/>
              <a:gd name="connsiteX3-15" fmla="*/ 5406887 w 12125739"/>
              <a:gd name="connsiteY3-16" fmla="*/ 2445026 h 2458279"/>
            </a:gdLst>
            <a:ahLst/>
            <a:cxnLst>
              <a:cxn ang="0">
                <a:pos x="connsiteX0-9" y="connsiteY0-10"/>
              </a:cxn>
              <a:cxn ang="0">
                <a:pos x="connsiteX1-11" y="connsiteY1-12"/>
              </a:cxn>
              <a:cxn ang="0">
                <a:pos x="connsiteX2-13" y="connsiteY2-14"/>
              </a:cxn>
              <a:cxn ang="0">
                <a:pos x="connsiteX3-15" y="connsiteY3-16"/>
              </a:cxn>
            </a:cxnLst>
            <a:rect l="l" t="t" r="r" b="b"/>
            <a:pathLst>
              <a:path w="12125739" h="2458279">
                <a:moveTo>
                  <a:pt x="5406887" y="2445026"/>
                </a:moveTo>
                <a:lnTo>
                  <a:pt x="0" y="0"/>
                </a:lnTo>
                <a:lnTo>
                  <a:pt x="12125739" y="2458279"/>
                </a:lnTo>
                <a:lnTo>
                  <a:pt x="5406887" y="2445026"/>
                </a:lnTo>
                <a:close/>
              </a:path>
            </a:pathLst>
          </a:custGeom>
          <a:solidFill>
            <a:srgbClr val="616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1524000" y="1043417"/>
            <a:ext cx="9144000" cy="1998404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524000" y="3408353"/>
            <a:ext cx="9144000" cy="64011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 flipH="1">
            <a:off x="0" y="-31186"/>
            <a:ext cx="1524000" cy="1757949"/>
          </a:xfrm>
          <a:prstGeom prst="rtTriangle">
            <a:avLst/>
          </a:prstGeom>
          <a:solidFill>
            <a:srgbClr val="00B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539114" y="3287963"/>
            <a:ext cx="9128886" cy="0"/>
          </a:xfrm>
          <a:prstGeom prst="line">
            <a:avLst/>
          </a:prstGeom>
          <a:ln w="38100">
            <a:solidFill>
              <a:srgbClr val="00BE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2848" y="2313991"/>
            <a:ext cx="4338000" cy="3862971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020000">
            <a:off x="806258" y="4040019"/>
            <a:ext cx="5269722" cy="69243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任意多边形 6"/>
          <p:cNvSpPr/>
          <p:nvPr userDrawn="1">
            <p:custDataLst>
              <p:tags r:id="rId1"/>
            </p:custDataLst>
          </p:nvPr>
        </p:nvSpPr>
        <p:spPr>
          <a:xfrm rot="1020695">
            <a:off x="-385440" y="2822298"/>
            <a:ext cx="9311410" cy="1120432"/>
          </a:xfrm>
          <a:custGeom>
            <a:avLst/>
            <a:gdLst>
              <a:gd name="connsiteX0" fmla="*/ 0 w 6888970"/>
              <a:gd name="connsiteY0" fmla="*/ 5629 h 1094517"/>
              <a:gd name="connsiteX1" fmla="*/ 6336207 w 6888970"/>
              <a:gd name="connsiteY1" fmla="*/ 0 h 1094517"/>
              <a:gd name="connsiteX2" fmla="*/ 6888970 w 6888970"/>
              <a:gd name="connsiteY2" fmla="*/ 1094517 h 1094517"/>
              <a:gd name="connsiteX3" fmla="*/ 333148 w 6888970"/>
              <a:gd name="connsiteY3" fmla="*/ 1094517 h 1094517"/>
              <a:gd name="connsiteX0-1" fmla="*/ 0 w 6888970"/>
              <a:gd name="connsiteY0-2" fmla="*/ 5629 h 1127232"/>
              <a:gd name="connsiteX1-3" fmla="*/ 6336207 w 6888970"/>
              <a:gd name="connsiteY1-4" fmla="*/ 0 h 1127232"/>
              <a:gd name="connsiteX2-5" fmla="*/ 6888970 w 6888970"/>
              <a:gd name="connsiteY2-6" fmla="*/ 1094517 h 1127232"/>
              <a:gd name="connsiteX3-7" fmla="*/ 234462 w 6888970"/>
              <a:gd name="connsiteY3-8" fmla="*/ 1127232 h 1127232"/>
              <a:gd name="connsiteX4" fmla="*/ 0 w 6888970"/>
              <a:gd name="connsiteY4" fmla="*/ 5629 h 1127232"/>
              <a:gd name="connsiteX0-9" fmla="*/ 0 w 6888970"/>
              <a:gd name="connsiteY0-10" fmla="*/ 5629 h 1127232"/>
              <a:gd name="connsiteX1-11" fmla="*/ 6336207 w 6888970"/>
              <a:gd name="connsiteY1-12" fmla="*/ 0 h 1127232"/>
              <a:gd name="connsiteX2-13" fmla="*/ 6888970 w 6888970"/>
              <a:gd name="connsiteY2-14" fmla="*/ 1094517 h 1127232"/>
              <a:gd name="connsiteX3-15" fmla="*/ 234462 w 6888970"/>
              <a:gd name="connsiteY3-16" fmla="*/ 1127232 h 1127232"/>
              <a:gd name="connsiteX4-17" fmla="*/ 0 w 6888970"/>
              <a:gd name="connsiteY4-18" fmla="*/ 5629 h 1127232"/>
              <a:gd name="connsiteX0-19" fmla="*/ 0 w 6888970"/>
              <a:gd name="connsiteY0-20" fmla="*/ 5629 h 1116129"/>
              <a:gd name="connsiteX1-21" fmla="*/ 6336207 w 6888970"/>
              <a:gd name="connsiteY1-22" fmla="*/ 0 h 1116129"/>
              <a:gd name="connsiteX2-23" fmla="*/ 6888970 w 6888970"/>
              <a:gd name="connsiteY2-24" fmla="*/ 1094517 h 1116129"/>
              <a:gd name="connsiteX3-25" fmla="*/ 261416 w 6888970"/>
              <a:gd name="connsiteY3-26" fmla="*/ 1116129 h 1116129"/>
              <a:gd name="connsiteX4-27" fmla="*/ 0 w 6888970"/>
              <a:gd name="connsiteY4-28" fmla="*/ 5629 h 1116129"/>
              <a:gd name="connsiteX0-29" fmla="*/ 0 w 6888970"/>
              <a:gd name="connsiteY0-30" fmla="*/ 5629 h 1116129"/>
              <a:gd name="connsiteX1-31" fmla="*/ 6336207 w 6888970"/>
              <a:gd name="connsiteY1-32" fmla="*/ 0 h 1116129"/>
              <a:gd name="connsiteX2-33" fmla="*/ 6888970 w 6888970"/>
              <a:gd name="connsiteY2-34" fmla="*/ 1094517 h 1116129"/>
              <a:gd name="connsiteX3-35" fmla="*/ 261416 w 6888970"/>
              <a:gd name="connsiteY3-36" fmla="*/ 1116129 h 1116129"/>
              <a:gd name="connsiteX4-37" fmla="*/ 0 w 6888970"/>
              <a:gd name="connsiteY4-38" fmla="*/ 5629 h 11161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17" y="connsiteY4-18"/>
              </a:cxn>
            </a:cxnLst>
            <a:rect l="l" t="t" r="r" b="b"/>
            <a:pathLst>
              <a:path w="6888970" h="1116129">
                <a:moveTo>
                  <a:pt x="0" y="5629"/>
                </a:moveTo>
                <a:lnTo>
                  <a:pt x="6336207" y="0"/>
                </a:lnTo>
                <a:lnTo>
                  <a:pt x="6888970" y="1094517"/>
                </a:lnTo>
                <a:lnTo>
                  <a:pt x="261416" y="1116129"/>
                </a:lnTo>
                <a:cubicBezTo>
                  <a:pt x="-9941" y="-30167"/>
                  <a:pt x="111049" y="368592"/>
                  <a:pt x="0" y="5629"/>
                </a:cubicBez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defTabSz="384810">
              <a:defRPr/>
            </a:pPr>
            <a:endParaRPr lang="zh-CN" altLang="en-US" sz="1760" kern="0" dirty="0">
              <a:solidFill>
                <a:srgbClr val="FFFF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2"/>
            </p:custDataLst>
          </p:nvPr>
        </p:nvCxnSpPr>
        <p:spPr>
          <a:xfrm>
            <a:off x="-6350" y="2800089"/>
            <a:ext cx="12198350" cy="3702506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22118">
            <a:off x="153380" y="2941977"/>
            <a:ext cx="8683425" cy="1005567"/>
          </a:xfrm>
        </p:spPr>
        <p:txBody>
          <a:bodyPr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57264" y="2649893"/>
            <a:ext cx="3526973" cy="3340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91264" y="2649893"/>
            <a:ext cx="3526973" cy="3340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71200"/>
            <a:ext cx="10515600" cy="864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8980"/>
            <a:ext cx="10515600" cy="1199464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ly-arranged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1D3F-34E9-4F9D-84A2-72367D9F9A68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DC01-BD11-43BE-8FE9-19C0CFD26E4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38202" y="255122"/>
            <a:ext cx="10515598" cy="581770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tx1"/>
                </a:solidFill>
              </a:defRPr>
            </a:lvl1pPr>
            <a:lvl2pPr marL="393700" indent="0">
              <a:buFontTx/>
              <a:buNone/>
              <a:defRPr sz="2000">
                <a:solidFill>
                  <a:schemeClr val="tx1"/>
                </a:solidFill>
              </a:defRPr>
            </a:lvl2pPr>
            <a:lvl3pPr marL="661035" indent="0">
              <a:buFontTx/>
              <a:buNone/>
              <a:defRPr sz="1800">
                <a:solidFill>
                  <a:schemeClr val="tx1"/>
                </a:solidFill>
              </a:defRPr>
            </a:lvl3pPr>
            <a:lvl4pPr marL="851535" indent="0">
              <a:buFontTx/>
              <a:buNone/>
              <a:defRPr sz="1800">
                <a:solidFill>
                  <a:schemeClr val="tx1"/>
                </a:solidFill>
              </a:defRPr>
            </a:lvl4pPr>
            <a:lvl5pPr marL="1054735" indent="0">
              <a:buFontTx/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871932"/>
            <a:ext cx="10515600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C83C4-A236-483F-94E1-16AFA86FAD0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E8863-1879-49C9-9D7E-0C23B4A06F4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V="1">
            <a:off x="838200" y="-1"/>
            <a:ext cx="647363" cy="782240"/>
          </a:xfrm>
          <a:prstGeom prst="triangle">
            <a:avLst/>
          </a:prstGeom>
          <a:solidFill>
            <a:srgbClr val="00BE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75" baseline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54330" indent="-35433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 3" panose="05040102010807070707" pitchFamily="18" charset="2"/>
        <a:buChar char="p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Master Verification Using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Cocotb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408045"/>
            <a:ext cx="9144000" cy="2257425"/>
          </a:xfrm>
        </p:spPr>
        <p:txBody>
          <a:bodyPr>
            <a:normAutofit/>
          </a:bodyPr>
          <a:lstStyle/>
          <a:p>
            <a:pPr algn="l"/>
            <a:r>
              <a:rPr lang="en-US" altLang="zh-CN" b="1" dirty="0"/>
              <a:t>                      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done by: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1.Neha</a:t>
            </a:r>
          </a:p>
          <a:p>
            <a:pPr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2.Vishnupriya</a:t>
            </a:r>
          </a:p>
          <a:p>
            <a:pPr algn="l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3.Deepika</a:t>
            </a:r>
          </a:p>
          <a:p>
            <a:r>
              <a:rPr lang="en-US" altLang="zh-CN" dirty="0"/>
              <a:t>                             </a:t>
            </a:r>
            <a:r>
              <a:rPr lang="en-US" altLang="zh-CN" b="1" dirty="0"/>
              <a:t>   </a:t>
            </a:r>
            <a:endParaRPr lang="en-US" altLang="zh-CN" dirty="0"/>
          </a:p>
        </p:txBody>
      </p:sp>
      <p:pic>
        <p:nvPicPr>
          <p:cNvPr id="4" name="Picture 3" descr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1010" y="0"/>
            <a:ext cx="2762250" cy="9137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10" y="2181225"/>
            <a:ext cx="9614535" cy="399542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Protocol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 Functionalities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38800" y="363600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38800" y="1485900"/>
            <a:ext cx="10515600" cy="4691700"/>
          </a:xfrm>
          <a:prstGeom prst="rect">
            <a:avLst/>
          </a:prstGeom>
        </p:spPr>
        <p:txBody>
          <a:bodyPr>
            <a:normAutofit fontScale="95000"/>
          </a:bodyPr>
          <a:lstStyle>
            <a:defPPr>
              <a:defRPr lang="zh-CN"/>
            </a:defPPr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Peripheral Interface (SPI)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synchronous, full-duplex communication protocol commonly used for short-distance communication in embedded systems. It enables fast and efficient data exchange between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one or more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is widely used in embedded systems for communication with sensors, memory, and peripheral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ensures the SPI Master module adheres to protocol specifications and performs reliably.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Cocotb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writing testbenches using Python and allows advanced verification features like randomization, assertions, and functional coverage.</a:t>
            </a:r>
          </a:p>
          <a:p>
            <a:pPr marL="0" indent="0" algn="just">
              <a:buNone/>
            </a:pPr>
            <a:endParaRPr lang="en-US" altLang="en-US" dirty="0">
              <a:cs typeface="+mn-lt"/>
            </a:endParaRPr>
          </a:p>
        </p:txBody>
      </p:sp>
      <p:pic>
        <p:nvPicPr>
          <p:cNvPr id="2" name="Picture 1" descr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1745" y="111760"/>
            <a:ext cx="1884680" cy="6235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38835" y="1756410"/>
            <a:ext cx="10514965" cy="4352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embedded systems,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(Serial Peripheral Interface)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widely used for high-speed, full-duplex communication between a master device and one or more slave devices. Ensuring correct functionality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Master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crucial for reliable data exchange with connected peripherals such as memory chips, sensors, and displays.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verification methods using HDL-based testbenches can be verbose and less flexible when dealing with complex test scenarios. This project aims to address this challenge by using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Cocotb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Python-based verification framework, to verify the functional correctness of an SPI Master module.</a:t>
            </a:r>
          </a:p>
          <a:p>
            <a:endParaRPr lang="en-US" altLang="en-US" dirty="0"/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838800" y="363600"/>
            <a:ext cx="10515600" cy="13248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pic>
        <p:nvPicPr>
          <p:cNvPr id="2" name="Picture 1" descr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985" y="162560"/>
            <a:ext cx="1741170" cy="5759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FC11-D073-8CB1-1AE7-859E8E1C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Protocol Overview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4A4CAA-71E7-4F17-35F2-1F97FD80EF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5110"/>
            <a:ext cx="110682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Full-Duplex Communication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simultaneously transmitted and received between Master and Slave.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Master-Slave Architecture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Master initiates and controls data transfer, while the Slave responds.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Four-Wire Interface: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(Master Out Slave 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(Master In Slave 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SCLK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(Serial Clock, generated by Master)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SS/CS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(Slave Select/Chip Select)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6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314960" y="332105"/>
            <a:ext cx="9083040" cy="635635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r>
              <a:rPr lang="en-US" altLang="en-US" sz="3600" dirty="0">
                <a:solidFill>
                  <a:schemeClr val="accent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SPI Protocol: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845821" y="2285999"/>
            <a:ext cx="9860280" cy="35560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indent="0" algn="just">
              <a:buFont typeface="Arial" panose="020B0604020202020204" pitchFamily="34" charset="0"/>
              <a:buNone/>
            </a:pPr>
            <a:endParaRPr lang="en-US" altLang="en-US" sz="2400" dirty="0"/>
          </a:p>
        </p:txBody>
      </p:sp>
      <p:pic>
        <p:nvPicPr>
          <p:cNvPr id="3" name="Picture 2" descr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945" y="71120"/>
            <a:ext cx="1737360" cy="57485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F153E1D-61A3-EF8C-4E4C-E3F26B5FF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9" y="979390"/>
            <a:ext cx="10945258" cy="491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MH_Others_2"/>
          <p:cNvCxnSpPr/>
          <p:nvPr>
            <p:custDataLst>
              <p:tags r:id="rId2"/>
            </p:custDataLst>
          </p:nvPr>
        </p:nvCxnSpPr>
        <p:spPr>
          <a:xfrm>
            <a:off x="6287135" y="5382895"/>
            <a:ext cx="4204335" cy="0"/>
          </a:xfrm>
          <a:prstGeom prst="line">
            <a:avLst/>
          </a:prstGeom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H_Others_3"/>
          <p:cNvSpPr txBox="1"/>
          <p:nvPr>
            <p:custDataLst>
              <p:tags r:id="rId3"/>
            </p:custDataLst>
          </p:nvPr>
        </p:nvSpPr>
        <p:spPr>
          <a:xfrm>
            <a:off x="734108" y="425968"/>
            <a:ext cx="3469544" cy="4768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endParaRPr lang="en-US" altLang="zh-CN" sz="4400" dirty="0">
              <a:solidFill>
                <a:srgbClr val="B2B2B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9652" y="-121139"/>
            <a:ext cx="4064000" cy="8915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endParaRPr lang="en-US" altLang="en-US" sz="2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cs typeface="+mj-lt"/>
            </a:endParaRPr>
          </a:p>
          <a:p>
            <a:r>
              <a:rPr lang="en-US" altLang="en-US" sz="28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Functionalities:</a:t>
            </a:r>
            <a:endParaRPr lang="en-US" altLang="en-US" sz="2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6367" y="770401"/>
            <a:ext cx="10931525" cy="39900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 Design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Verilog-based SPI Master with configurable SPI modes and clock.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🧪 Testbench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Cocotb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testbench using coroutines and assertions.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scenarios cover all SPI modes and edge cases.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Simulation &amp; Verification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simulation using Icarus Verilog.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Pass/fail results and protocol checks via Python logs.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Waveform Analysis 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GTKWave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timing and SPI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visually.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CPOL, CPHA, MOSI, MISO, and SCLK inspected.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🧵 Synthesis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Synthesized design to check for resource and logic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RTL was synthesis-ready.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ML-Based Verification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classification or test result automation.</a:t>
            </a:r>
          </a:p>
        </p:txBody>
      </p:sp>
      <p:pic>
        <p:nvPicPr>
          <p:cNvPr id="5" name="Picture 4" descr="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945" y="71120"/>
            <a:ext cx="1550670" cy="513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H_Others_3"/>
          <p:cNvSpPr txBox="1"/>
          <p:nvPr>
            <p:custDataLst>
              <p:tags r:id="rId2"/>
            </p:custDataLst>
          </p:nvPr>
        </p:nvSpPr>
        <p:spPr>
          <a:xfrm>
            <a:off x="-139700" y="327660"/>
            <a:ext cx="4709160" cy="4768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APPLICATION: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92760" y="1025525"/>
            <a:ext cx="10962005" cy="542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🔌 Embedded Systems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microcontrollers to peripherals (sensors, displays, memory).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💾 Memory Devices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with EEPROM, NOR/NAND Flash for data storage and bootloaders.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📟 Display Drivers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OLED, LCD, and TFT screens in consumer electronics.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Sensor Interfacing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SPI-based sensors in IoT and automation systems.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 Industrial &amp; Automotive Systems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diagnostics, motor control, and instrumentation units.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🧪 Lab Instruments &amp; FPGA Projects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ADC/DACs, scopes, and waveform generators</a:t>
            </a:r>
            <a:r>
              <a:rPr lang="en-IN" sz="2400" dirty="0"/>
              <a:t>.</a:t>
            </a:r>
          </a:p>
        </p:txBody>
      </p:sp>
      <p:pic>
        <p:nvPicPr>
          <p:cNvPr id="3" name="Picture 2" descr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945" y="71120"/>
            <a:ext cx="1550670" cy="513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5781-F19C-EB04-3D9D-F9185680D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Outlooks: RTL Verification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86C5C2-6305-42F7-11B0-1F8EEE62B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100" y="1735932"/>
            <a:ext cx="8572500" cy="449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34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2AAA-C49F-F8B3-16DD-C88319F98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C7E3-4324-62FC-C777-C6CB3940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Outlooks: Synthesis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A9F5B7-E1BD-CC6D-D68D-9F0CA6723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DDADA180-C1AA-E168-94B8-E5FB2A449F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7921C7-C792-EA35-4634-9ADE456E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152" y="1735932"/>
            <a:ext cx="9072248" cy="46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9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E947-F67A-98D0-C2BB-E4FFDF98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11EE-2F24-BF8D-0C31-D98A48B34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Outlooks: </a:t>
            </a:r>
            <a:r>
              <a:rPr lang="en-US" dirty="0" err="1"/>
              <a:t>Gtkwave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E3068C-BA98-083C-0038-7D2699745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D70FDF4-99A7-7FCA-0C28-F8BE19F0A1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048EB92-1725-F8C4-FCDF-BE9CDD4C1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FF6E3-65F5-1F42-C381-488B67634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1735932"/>
            <a:ext cx="9182100" cy="477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3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2139-01D0-A6CA-3F44-3F3D2F69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6AFF-F580-765D-406C-691CE777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228"/>
            <a:ext cx="10515600" cy="864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Outlooks: ML Verification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E9B3BA-495A-F329-B5FE-8E092E3EA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E1557BA-005D-41B5-D739-A405D786C5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3E16600-EF1F-2EC1-095F-FE3E3089EA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A472556-3572-3D02-C14D-7D73A54D1B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E5E1FF-1180-54DA-DD69-E0EBD0A8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534228"/>
            <a:ext cx="9542148" cy="46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11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9F9B-4440-314C-7284-C6AFEAB2C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4DE5-F082-6834-B977-2EFFF766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228"/>
            <a:ext cx="10515600" cy="864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Outlooks: Netlist Validation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6F8383-6A9B-5CDA-8151-E5ED226EF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B385F91F-6038-A72A-12AA-B5E87F7B11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3E4A470-6CCD-8818-52F2-9CC8C6F11F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C83B069C-8980-F65D-BFEA-4BFECC5A74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8B13130-EECE-255E-9FCA-630147CFBB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B75A7B-99DF-ECCC-9826-D3E6C370F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358900"/>
            <a:ext cx="89662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1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92EA7-796A-4CBC-149C-0B28EBE2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E613-AB0F-D809-C2B1-2F12695D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228"/>
            <a:ext cx="10515600" cy="864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Outlooks: Data Logs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97CF53-FC93-4BC7-26DA-6A69C2EA8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52D6596-58E7-EEF2-6093-CE10C9021D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25BCDF3-BE64-1170-80EC-CD81AFF705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C71FB16-922B-B63C-75BB-E340B7653C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0BD619B-93D6-C237-D18E-F7024B1E63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7BF96FE1-F21C-185D-79E9-86851996A1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1FAF8C-347C-8EA9-C8DD-98080721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1625600"/>
            <a:ext cx="9326248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86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H_Others_3"/>
          <p:cNvSpPr txBox="1"/>
          <p:nvPr>
            <p:custDataLst>
              <p:tags r:id="rId2"/>
            </p:custDataLst>
          </p:nvPr>
        </p:nvSpPr>
        <p:spPr>
          <a:xfrm>
            <a:off x="652828" y="1045263"/>
            <a:ext cx="3469544" cy="4768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altLang="en-US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47420" y="1755775"/>
            <a:ext cx="10525760" cy="4215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SPI Master module was successfully verified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Cocotb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comprehensive test scenarios. Functional correctness was ensured across all SPI modes and edge cases. Waveform analysis confirmed accurate signal timing and protocol behavior.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effectiveness of Python-based verification for digital designs.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41120" y="1755775"/>
            <a:ext cx="10382250" cy="42945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/>
            <a:r>
              <a:rPr lang="en-US" altLang="en-US" sz="2400" dirty="0"/>
              <a:t>.</a:t>
            </a:r>
          </a:p>
        </p:txBody>
      </p:sp>
      <p:pic>
        <p:nvPicPr>
          <p:cNvPr id="5" name="Picture 4" descr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945" y="71120"/>
            <a:ext cx="1550670" cy="513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MH_Others_3"/>
          <p:cNvSpPr txBox="1"/>
          <p:nvPr>
            <p:custDataLst>
              <p:tags r:id="rId2"/>
            </p:custDataLst>
          </p:nvPr>
        </p:nvSpPr>
        <p:spPr>
          <a:xfrm>
            <a:off x="2349500" y="2190115"/>
            <a:ext cx="6040120" cy="21323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altLang="zh-CN" sz="660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3" name="Picture 2" descr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945" y="71120"/>
            <a:ext cx="1550670" cy="5130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56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56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622"/>
  <p:tag name="MH_LIBRARY" val="GRAPHIC"/>
  <p:tag name="MH_ORDER" val="Freeform 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622"/>
  <p:tag name="MH_LIBRARY" val="GRAPHIC"/>
  <p:tag name="MH_ORDER" val="Straight Connector 1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5、8、12、16、19、25、27、28、29"/>
  <p:tag name="KSO_WM_TEMPLATE_CATEGORY" val="custom"/>
  <p:tag name="KSO_WM_TEMPLATE_INDEX" val="160564"/>
  <p:tag name="KSO_WM_TAG_VERSION" val="1.0"/>
  <p:tag name="KSO_WM_SLIDE_ID" val="custom160564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a"/>
  <p:tag name="KSO_WM_UNIT_INDEX" val="1"/>
  <p:tag name="KSO_WM_UNIT_ID" val="custom160564_1*a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b"/>
  <p:tag name="KSO_WM_UNIT_INDEX" val="1"/>
  <p:tag name="KSO_WM_UNIT_ID" val="custom160564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16056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QiTTB#"/>
  <p:tag name="MH_LAYOUT" val="Text"/>
  <p:tag name="MH" val="20151026160412"/>
  <p:tag name="MH_LIBRARY" val="GRAPHIC"/>
  <p:tag name="KSO_WM_TEMPLATE_CATEGORY" val="custom"/>
  <p:tag name="KSO_WM_TEMPLATE_INDEX" val="160564"/>
  <p:tag name="KSO_WM_SLIDE_ID" val="custom160564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TAG_VERSION" val="1.0"/>
  <p:tag name="KSO_WM_SLIDE_POSITION" val="66*144"/>
  <p:tag name="KSO_WM_SLIDE_SIZE" val="828*34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a"/>
  <p:tag name="KSO_WM_UNIT_INDEX" val="1"/>
  <p:tag name="KSO_WM_UNIT_ID" val="custom160564_2*a*1"/>
  <p:tag name="KSO_WM_UNIT_CLEAR" val="1"/>
  <p:tag name="KSO_WM_UNIT_LAYERLEVEL" val="1"/>
  <p:tag name="KSO_WM_UNIT_VALUE" val="5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f"/>
  <p:tag name="KSO_WM_UNIT_INDEX" val="1"/>
  <p:tag name="KSO_WM_UNIT_ID" val="custom160564_2*f*1"/>
  <p:tag name="KSO_WM_UNIT_CLEAR" val="1"/>
  <p:tag name="KSO_WM_UNIT_LAYERLEVEL" val="1"/>
  <p:tag name="KSO_WM_UNIT_VALUE" val="429"/>
  <p:tag name="KSO_WM_UNIT_HIGHLIGHT" val="0"/>
  <p:tag name="KSO_WM_UNIT_COMPATIBLE" val="0"/>
  <p:tag name="KSO_WM_UNIT_PRESET_TEXT_INDEX" val="5"/>
  <p:tag name="KSO_WM_UNIT_PRESET_TEXT_LEN" val="23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QiTTB#"/>
  <p:tag name="MH_LAYOUT" val="Text"/>
  <p:tag name="MH" val="20151026160412"/>
  <p:tag name="MH_LIBRARY" val="GRAPHIC"/>
  <p:tag name="KSO_WM_TEMPLATE_CATEGORY" val="custom"/>
  <p:tag name="KSO_WM_TEMPLATE_INDEX" val="160564"/>
  <p:tag name="KSO_WM_SLIDE_ID" val="custom160564_3"/>
  <p:tag name="KSO_WM_SLIDE_INDEX" val="3"/>
  <p:tag name="KSO_WM_SLIDE_ITEM_CNT" val="2"/>
  <p:tag name="KSO_WM_SLIDE_LAYOUT" val="a_f"/>
  <p:tag name="KSO_WM_SLIDE_LAYOUT_CNT" val="1_2"/>
  <p:tag name="KSO_WM_SLIDE_TYPE" val="text"/>
  <p:tag name="KSO_WM_BEAUTIFY_FLAG" val="#wm#"/>
  <p:tag name="KSO_WM_TAG_VERSION" val="1.0"/>
  <p:tag name="KSO_WM_SLIDE_POSITION" val="66*138"/>
  <p:tag name="KSO_WM_SLIDE_SIZE" val="828*34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f"/>
  <p:tag name="KSO_WM_UNIT_INDEX" val="1"/>
  <p:tag name="KSO_WM_UNIT_ID" val="custom160564_3*f*1"/>
  <p:tag name="KSO_WM_UNIT_CLEAR" val="1"/>
  <p:tag name="KSO_WM_UNIT_LAYERLEVEL" val="1"/>
  <p:tag name="KSO_WM_UNIT_VALUE" val="208"/>
  <p:tag name="KSO_WM_UNIT_HIGHLIGHT" val="0"/>
  <p:tag name="KSO_WM_UNIT_COMPATIBLE" val="0"/>
  <p:tag name="KSO_WM_UNIT_PRESET_TEXT_INDEX" val="5"/>
  <p:tag name="KSO_WM_UNIT_PRESET_TEXT_LEN" val="23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a"/>
  <p:tag name="KSO_WM_UNIT_INDEX" val="1"/>
  <p:tag name="KSO_WM_UNIT_ID" val="custom160564_3*a*1"/>
  <p:tag name="KSO_WM_UNIT_CLEAR" val="1"/>
  <p:tag name="KSO_WM_UNIT_LAYERLEVEL" val="1"/>
  <p:tag name="KSO_WM_UNIT_VALUE" val="5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564"/>
  <p:tag name="KSO_WM_TAG_VERSION" val="1.0"/>
  <p:tag name="KSO_WM_SLIDE_ID" val="custom160564_5"/>
  <p:tag name="KSO_WM_SLIDE_INDEX" val="5"/>
  <p:tag name="KSO_WM_SLIDE_ITEM_CNT" val="2"/>
  <p:tag name="KSO_WM_SLIDE_LAYOUT" val="a_d_f"/>
  <p:tag name="KSO_WM_SLIDE_LAYOUT_CNT" val="1_1_1"/>
  <p:tag name="KSO_WM_SLIDE_TYPE" val="text"/>
  <p:tag name="KSO_WM_BEAUTIFY_FLAG" val="#wm#"/>
  <p:tag name="KSO_WM_SLIDE_POSITION" val="122*101"/>
  <p:tag name="KSO_WM_SLIDE_SIZE" val="715*41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a"/>
  <p:tag name="KSO_WM_UNIT_INDEX" val="1"/>
  <p:tag name="KSO_WM_UNIT_ID" val="custom160564_5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KSO_WM_UNIT_TYPE" val="f"/>
  <p:tag name="KSO_WM_UNIT_INDEX" val="1"/>
  <p:tag name="KSO_WM_UNIT_ID" val="custom160564_5*f*1"/>
  <p:tag name="KSO_WM_UNIT_CLEAR" val="1"/>
  <p:tag name="KSO_WM_UNIT_LAYERLEVEL" val="1"/>
  <p:tag name="KSO_WM_UNIT_VALUE" val="76"/>
  <p:tag name="KSO_WM_UNIT_HIGHLIGHT" val="0"/>
  <p:tag name="KSO_WM_UNIT_COMPATIBLE" val="0"/>
  <p:tag name="KSO_WM_UNIT_PRESET_TEXT_INDEX" val="4"/>
  <p:tag name="KSO_WM_UNIT_PRESET_TEXT_LEN" val="5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AUTOCOLOR" val="TRUE"/>
  <p:tag name="MH_TYPE" val="CONTENTS"/>
  <p:tag name="ID" val="553526"/>
  <p:tag name="KSO_WM_TEMPLATE_CATEGORY" val="custom"/>
  <p:tag name="KSO_WM_TEMPLATE_INDEX" val="160564"/>
  <p:tag name="KSO_WM_TAG_VERSION" val="1.0"/>
  <p:tag name="KSO_WM_SLIDE_ID" val="custom160564_7"/>
  <p:tag name="KSO_WM_SLIDE_INDEX" val="7"/>
  <p:tag name="KSO_WM_SLIDE_ITEM_CNT" val="2"/>
  <p:tag name="KSO_WM_SLIDE_LAYOUT" val="a_l"/>
  <p:tag name="KSO_WM_SLIDE_LAYOUT_CNT" val="1_1"/>
  <p:tag name="KSO_WM_SLIDE_TYPE" val="contents"/>
  <p:tag name="KSO_WM_BEAUTIFY_FLAG" val="#wm#"/>
  <p:tag name="KSO_WM_DIAGRAM_GROUP_CODE" val="l1-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564"/>
  <p:tag name="MH" val="20150923145210"/>
  <p:tag name="MH_LIBRARY" val="CONTENTS"/>
  <p:tag name="MH_TYPE" val="OTHERS"/>
  <p:tag name="ID" val="553526"/>
  <p:tag name="KSO_WM_UNIT_TYPE" val="l_i"/>
  <p:tag name="KSO_WM_UNIT_INDEX" val="1_4"/>
  <p:tag name="KSO_WM_UNIT_ID" val="custom160564_7*l_i*1_4"/>
  <p:tag name="KSO_WM_UNIT_CLEAR" val="1"/>
  <p:tag name="KSO_WM_UNIT_LAYERLEVEL" val="1_1"/>
  <p:tag name="KSO_WM_DIAGRAM_GROUP_CODE" val="l1-1"/>
  <p:tag name="KSO_WM_DIAGRAM_VIRTUALLY_FRAME" val="{&quot;height&quot;:298.87456692913383,&quot;left&quot;:128.3814173228346,&quot;top&quot;:124.9872440944882,&quot;width&quot;:697.718582677165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TYPE" val="OTHERS"/>
  <p:tag name="ID" val="553526"/>
  <p:tag name="KSO_WM_TAG_VERSION" val="1.0"/>
  <p:tag name="KSO_WM_BEAUTIFY_FLAG" val="#wm#"/>
  <p:tag name="KSO_WM_UNIT_TYPE" val="i"/>
  <p:tag name="KSO_WM_UNIT_ID" val="custom160564_6*i*7"/>
  <p:tag name="KSO_WM_TEMPLATE_CATEGORY" val="custom"/>
  <p:tag name="KSO_WM_TEMPLATE_INDEX" val="160564"/>
  <p:tag name="KSO_WM_UNIT_INDEX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AUTOCOLOR" val="TRUE"/>
  <p:tag name="MH_TYPE" val="CONTENTS"/>
  <p:tag name="ID" val="553526"/>
  <p:tag name="KSO_WM_TEMPLATE_CATEGORY" val="custom"/>
  <p:tag name="KSO_WM_TEMPLATE_INDEX" val="160564"/>
  <p:tag name="KSO_WM_TAG_VERSION" val="1.0"/>
  <p:tag name="KSO_WM_SLIDE_ID" val="custom160564_9"/>
  <p:tag name="KSO_WM_SLIDE_INDEX" val="9"/>
  <p:tag name="KSO_WM_SLIDE_ITEM_CNT" val="4"/>
  <p:tag name="KSO_WM_SLIDE_LAYOUT" val="a_l"/>
  <p:tag name="KSO_WM_SLIDE_LAYOUT_CNT" val="1_1"/>
  <p:tag name="KSO_WM_SLIDE_TYPE" val="contents"/>
  <p:tag name="KSO_WM_BEAUTIFY_FLAG" val="#wm#"/>
  <p:tag name="KSO_WM_DIAGRAM_GROUP_CODE" val="l1-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TYPE" val="OTHERS"/>
  <p:tag name="ID" val="553526"/>
  <p:tag name="KSO_WM_TAG_VERSION" val="1.0"/>
  <p:tag name="KSO_WM_BEAUTIFY_FLAG" val="#wm#"/>
  <p:tag name="KSO_WM_UNIT_TYPE" val="i"/>
  <p:tag name="KSO_WM_UNIT_ID" val="custom160564_6*i*7"/>
  <p:tag name="KSO_WM_TEMPLATE_CATEGORY" val="custom"/>
  <p:tag name="KSO_WM_TEMPLATE_INDEX" val="160564"/>
  <p:tag name="KSO_WM_UNIT_INDEX" val="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AUTOCOLOR" val="TRUE"/>
  <p:tag name="MH_TYPE" val="CONTENTS"/>
  <p:tag name="ID" val="553526"/>
  <p:tag name="KSO_WM_TEMPLATE_CATEGORY" val="custom"/>
  <p:tag name="KSO_WM_TEMPLATE_INDEX" val="160564"/>
  <p:tag name="KSO_WM_TAG_VERSION" val="1.0"/>
  <p:tag name="KSO_WM_SLIDE_ID" val="custom160564_10"/>
  <p:tag name="KSO_WM_SLIDE_INDEX" val="10"/>
  <p:tag name="KSO_WM_SLIDE_ITEM_CNT" val="5"/>
  <p:tag name="KSO_WM_SLIDE_LAYOUT" val="a_l"/>
  <p:tag name="KSO_WM_SLIDE_LAYOUT_CNT" val="1_1"/>
  <p:tag name="KSO_WM_SLIDE_TYPE" val="contents"/>
  <p:tag name="KSO_WM_BEAUTIFY_FLAG" val="#wm#"/>
  <p:tag name="KSO_WM_DIAGRAM_GROUP_CODE" val="l1-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TYPE" val="OTHERS"/>
  <p:tag name="ID" val="553526"/>
  <p:tag name="KSO_WM_TAG_VERSION" val="1.0"/>
  <p:tag name="KSO_WM_BEAUTIFY_FLAG" val="#wm#"/>
  <p:tag name="KSO_WM_UNIT_TYPE" val="i"/>
  <p:tag name="KSO_WM_UNIT_ID" val="custom160564_6*i*7"/>
  <p:tag name="KSO_WM_TEMPLATE_CATEGORY" val="custom"/>
  <p:tag name="KSO_WM_TEMPLATE_INDEX" val="160564"/>
  <p:tag name="KSO_WM_UNIT_INDEX" val="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AUTOCOLOR" val="TRUE"/>
  <p:tag name="MH_TYPE" val="CONTENTS"/>
  <p:tag name="ID" val="553526"/>
  <p:tag name="KSO_WM_TEMPLATE_CATEGORY" val="custom"/>
  <p:tag name="KSO_WM_TEMPLATE_INDEX" val="160564"/>
  <p:tag name="KSO_WM_TAG_VERSION" val="1.0"/>
  <p:tag name="KSO_WM_SLIDE_ID" val="custom160564_11"/>
  <p:tag name="KSO_WM_SLIDE_INDEX" val="11"/>
  <p:tag name="KSO_WM_SLIDE_ITEM_CNT" val="6"/>
  <p:tag name="KSO_WM_SLIDE_LAYOUT" val="a_l"/>
  <p:tag name="KSO_WM_SLIDE_LAYOUT_CNT" val="1_1"/>
  <p:tag name="KSO_WM_SLIDE_TYPE" val="contents"/>
  <p:tag name="KSO_WM_BEAUTIFY_FLAG" val="#wm#"/>
  <p:tag name="KSO_WM_DIAGRAM_GROUP_CODE" val="l1-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23145210"/>
  <p:tag name="MH_LIBRARY" val="CONTENTS"/>
  <p:tag name="MH_TYPE" val="OTHERS"/>
  <p:tag name="ID" val="553526"/>
  <p:tag name="KSO_WM_TAG_VERSION" val="1.0"/>
  <p:tag name="KSO_WM_BEAUTIFY_FLAG" val="#wm#"/>
  <p:tag name="KSO_WM_UNIT_TYPE" val="i"/>
  <p:tag name="KSO_WM_UNIT_ID" val="custom160564_6*i*7"/>
  <p:tag name="KSO_WM_TEMPLATE_CATEGORY" val="custom"/>
  <p:tag name="KSO_WM_TEMPLATE_INDEX" val="160564"/>
  <p:tag name="KSO_WM_UNIT_INDEX" val="7"/>
</p:tagLst>
</file>

<file path=ppt/theme/theme1.xml><?xml version="1.0" encoding="utf-8"?>
<a:theme xmlns:a="http://schemas.openxmlformats.org/drawingml/2006/main" name="Office Theme">
  <a:themeElements>
    <a:clrScheme name="160564">
      <a:dk1>
        <a:srgbClr val="2F2F2F"/>
      </a:dk1>
      <a:lt1>
        <a:srgbClr val="F7F7F7"/>
      </a:lt1>
      <a:dk2>
        <a:srgbClr val="FFFFFF"/>
      </a:dk2>
      <a:lt2>
        <a:srgbClr val="5F5F5F"/>
      </a:lt2>
      <a:accent1>
        <a:srgbClr val="00BE9C"/>
      </a:accent1>
      <a:accent2>
        <a:srgbClr val="EC9126"/>
      </a:accent2>
      <a:accent3>
        <a:srgbClr val="CFBA21"/>
      </a:accent3>
      <a:accent4>
        <a:srgbClr val="00B0F0"/>
      </a:accent4>
      <a:accent5>
        <a:srgbClr val="009A79"/>
      </a:accent5>
      <a:accent6>
        <a:srgbClr val="AFB2B4"/>
      </a:accent6>
      <a:hlink>
        <a:srgbClr val="00B0F0"/>
      </a:hlink>
      <a:folHlink>
        <a:srgbClr val="AFB2B4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594</Words>
  <Application>Microsoft Office PowerPoint</Application>
  <PresentationFormat>Widescreen</PresentationFormat>
  <Paragraphs>79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 3</vt:lpstr>
      <vt:lpstr>Office Theme</vt:lpstr>
      <vt:lpstr>SPI Master Verification Using Cocotb</vt:lpstr>
      <vt:lpstr>Agenda:</vt:lpstr>
      <vt:lpstr>PowerPoint Presentation</vt:lpstr>
      <vt:lpstr>PowerPoint Presentation</vt:lpstr>
      <vt:lpstr>SPI Protocol Overview</vt:lpstr>
      <vt:lpstr>PowerPoint Presentation</vt:lpstr>
      <vt:lpstr>PowerPoint Presentation</vt:lpstr>
      <vt:lpstr>PowerPoint Presentation</vt:lpstr>
      <vt:lpstr>Outlooks: RTL Verification</vt:lpstr>
      <vt:lpstr>Outlooks: Synthesis</vt:lpstr>
      <vt:lpstr>Outlooks: Gtkwave</vt:lpstr>
      <vt:lpstr>Outlooks: ML Verification</vt:lpstr>
      <vt:lpstr>Outlooks: Netlist Validation</vt:lpstr>
      <vt:lpstr>Outlooks: Data Logs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NEHA GOSAVI</cp:lastModifiedBy>
  <cp:revision>224</cp:revision>
  <dcterms:created xsi:type="dcterms:W3CDTF">2015-09-21T02:24:00Z</dcterms:created>
  <dcterms:modified xsi:type="dcterms:W3CDTF">2025-04-07T18:23:37Z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2057-12.2.0.19821</vt:lpwstr>
  </property>
  <property fmtid="{D5CDD505-2E9C-101B-9397-08002B2CF9AE}" pid="3" name="ICV">
    <vt:lpwstr>4F9491D5DD0843118E0FE3882A024D36_13</vt:lpwstr>
  </property>
</Properties>
</file>